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4630400" cy="8229600"/>
  <p:notesSz cx="8229600" cy="14630400"/>
  <p:embeddedFontLst>
    <p:embeddedFont>
      <p:font typeface="Nunito Semi Bold"/>
      <p:regular r:id="rId13"/>
    </p:embeddedFont>
    <p:embeddedFont>
      <p:font typeface="Nunito Semi Bold"/>
      <p:regular r:id="rId14"/>
    </p:embeddedFont>
    <p:embeddedFont>
      <p:font typeface="Nunito Semi Bold"/>
      <p:regular r:id="rId15"/>
    </p:embeddedFont>
    <p:embeddedFont>
      <p:font typeface="Nunito Semi Bold"/>
      <p:regular r:id="rId16"/>
    </p:embeddedFont>
    <p:embeddedFont>
      <p:font typeface="PT Sans"/>
      <p:regular r:id="rId17"/>
    </p:embeddedFont>
    <p:embeddedFont>
      <p:font typeface="PT Sans"/>
      <p:regular r:id="rId18"/>
    </p:embeddedFont>
    <p:embeddedFont>
      <p:font typeface="PT Sans"/>
      <p:regular r:id="rId19"/>
    </p:embeddedFont>
    <p:embeddedFont>
      <p:font typeface="PT Sans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font" Target="fonts/font3.fntdata"/><Relationship Id="rId16" Type="http://schemas.openxmlformats.org/officeDocument/2006/relationships/font" Target="fonts/font4.fntdata"/><Relationship Id="rId17" Type="http://schemas.openxmlformats.org/officeDocument/2006/relationships/font" Target="fonts/font5.fntdata"/><Relationship Id="rId18" Type="http://schemas.openxmlformats.org/officeDocument/2006/relationships/font" Target="fonts/font6.fntdata"/><Relationship Id="rId19" Type="http://schemas.openxmlformats.org/officeDocument/2006/relationships/font" Target="fonts/font7.fntdata"/><Relationship Id="rId20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image" Target="../media/image-6-8.png"/><Relationship Id="rId9" Type="http://schemas.openxmlformats.org/officeDocument/2006/relationships/image" Target="../media/image-6-9.svg"/><Relationship Id="rId10" Type="http://schemas.openxmlformats.org/officeDocument/2006/relationships/slideLayout" Target="../slideLayouts/slideLayout7.xml"/><Relationship Id="rId11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2687717"/>
            <a:ext cx="7468553" cy="2112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Collaborative Group Shopping with Secure STK Checkout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324124" y="5158740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Real-time shared carts + secure mobile payment (STK Push)</a:t>
            </a: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077879"/>
            <a:ext cx="4505920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Vision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837724" y="3119914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Real-time shared cart platform — coordinate purchases, split costs, complete secure mobile payments seamlessly.</a:t>
            </a:r>
            <a:endParaRPr lang="en-US" sz="1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724" y="3772138"/>
            <a:ext cx="874038" cy="109251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010966" y="3772138"/>
            <a:ext cx="1841063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Households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2010966" y="4267676"/>
            <a:ext cx="184106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Shared grocery runs.</a:t>
            </a:r>
            <a:endParaRPr lang="en-US" sz="18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1233" y="3772138"/>
            <a:ext cx="874038" cy="109251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24475" y="3772138"/>
            <a:ext cx="1841063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Office teams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5324475" y="4267676"/>
            <a:ext cx="184106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Team orders for events and supplies.</a:t>
            </a:r>
            <a:endParaRPr lang="en-US" sz="18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4743" y="3772138"/>
            <a:ext cx="874038" cy="109251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637984" y="3772138"/>
            <a:ext cx="1841063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Event organizers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8637984" y="4619625"/>
            <a:ext cx="184106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Coordinate bulk purchases and payments.</a:t>
            </a:r>
            <a:endParaRPr lang="en-US" sz="18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8252" y="3772138"/>
            <a:ext cx="874157" cy="109263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951613" y="3772138"/>
            <a:ext cx="1841063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Project groups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11951613" y="4619625"/>
            <a:ext cx="1841063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Shared procurement &amp; transparent contributions.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1439228"/>
            <a:ext cx="3830003" cy="47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6324124" y="2285405"/>
            <a:ext cx="101679" cy="101679"/>
          </a:xfrm>
          <a:prstGeom prst="roundRect">
            <a:avLst>
              <a:gd name="adj" fmla="val 449650"/>
            </a:avLst>
          </a:prstGeom>
          <a:solidFill>
            <a:srgbClr val="F2B42D"/>
          </a:solidFill>
          <a:ln/>
        </p:spPr>
      </p:sp>
      <p:sp>
        <p:nvSpPr>
          <p:cNvPr id="5" name="Text 2"/>
          <p:cNvSpPr/>
          <p:nvPr/>
        </p:nvSpPr>
        <p:spPr>
          <a:xfrm>
            <a:off x="6598682" y="2177296"/>
            <a:ext cx="2393752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Current friction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598682" y="2580203"/>
            <a:ext cx="7193994" cy="301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Items scattered across chats and calls → duplicates, confusion.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324124" y="3335298"/>
            <a:ext cx="101679" cy="101679"/>
          </a:xfrm>
          <a:prstGeom prst="roundRect">
            <a:avLst>
              <a:gd name="adj" fmla="val 449650"/>
            </a:avLst>
          </a:prstGeom>
          <a:solidFill>
            <a:srgbClr val="D7425E"/>
          </a:solidFill>
          <a:ln/>
        </p:spPr>
      </p:sp>
      <p:sp>
        <p:nvSpPr>
          <p:cNvPr id="8" name="Text 5"/>
          <p:cNvSpPr/>
          <p:nvPr/>
        </p:nvSpPr>
        <p:spPr>
          <a:xfrm>
            <a:off x="6598682" y="3227189"/>
            <a:ext cx="2393752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Visibility gap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6598682" y="3630097"/>
            <a:ext cx="7193994" cy="301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No centralized total; contributors don’t see cost breakdowns.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324124" y="4385191"/>
            <a:ext cx="101679" cy="101679"/>
          </a:xfrm>
          <a:prstGeom prst="roundRect">
            <a:avLst>
              <a:gd name="adj" fmla="val 449650"/>
            </a:avLst>
          </a:prstGeom>
          <a:solidFill>
            <a:srgbClr val="DD785E"/>
          </a:solidFill>
          <a:ln/>
        </p:spPr>
      </p:sp>
      <p:sp>
        <p:nvSpPr>
          <p:cNvPr id="11" name="Text 8"/>
          <p:cNvSpPr/>
          <p:nvPr/>
        </p:nvSpPr>
        <p:spPr>
          <a:xfrm>
            <a:off x="6598682" y="4277082"/>
            <a:ext cx="2393752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Payment chaos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6598682" y="4679990"/>
            <a:ext cx="7193994" cy="301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Coordination fails; receipts lost; possible double payments.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324124" y="5277355"/>
            <a:ext cx="7468553" cy="32980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6324124" y="5569625"/>
            <a:ext cx="2872502" cy="359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The Core Pain Point</a:t>
            </a:r>
            <a:endParaRPr lang="en-US" sz="2250" dirty="0"/>
          </a:p>
        </p:txBody>
      </p:sp>
      <p:sp>
        <p:nvSpPr>
          <p:cNvPr id="15" name="Text 12"/>
          <p:cNvSpPr/>
          <p:nvPr/>
        </p:nvSpPr>
        <p:spPr>
          <a:xfrm>
            <a:off x="6324124" y="6188035"/>
            <a:ext cx="7468553" cy="602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Groups lack a structured, auditable workflow to build shared carts, track contributions, and complete secure payments in one flow.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841415"/>
            <a:ext cx="4055388" cy="506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5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Our Solution</a:t>
            </a:r>
            <a:endParaRPr lang="en-US" sz="31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724" y="3767257"/>
            <a:ext cx="791408" cy="9891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71424" y="3767257"/>
            <a:ext cx="2534603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Shared Cart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1871424" y="4277916"/>
            <a:ext cx="2963466" cy="981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Owner creates cart → invites collaborators → members add items in real time.</a:t>
            </a:r>
            <a:endParaRPr lang="en-US" sz="16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7182" y="3767257"/>
            <a:ext cx="791408" cy="98917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10883" y="3767257"/>
            <a:ext cx="2718911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Transparent Ownership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6110883" y="4277916"/>
            <a:ext cx="2963585" cy="654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Assign items and live total updates.</a:t>
            </a:r>
            <a:endParaRPr lang="en-US" sz="1650" dirty="0"/>
          </a:p>
        </p:txBody>
      </p:sp>
      <p:sp>
        <p:nvSpPr>
          <p:cNvPr id="9" name="Shape 5"/>
          <p:cNvSpPr/>
          <p:nvPr/>
        </p:nvSpPr>
        <p:spPr>
          <a:xfrm>
            <a:off x="9607629" y="1857137"/>
            <a:ext cx="4192548" cy="1641753"/>
          </a:xfrm>
          <a:prstGeom prst="roundRect">
            <a:avLst>
              <a:gd name="adj" fmla="val 19684"/>
            </a:avLst>
          </a:prstGeom>
          <a:solidFill>
            <a:srgbClr val="00002E"/>
          </a:solidFill>
          <a:ln w="22860">
            <a:solidFill>
              <a:srgbClr val="F2B42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9845873" y="2095381"/>
            <a:ext cx="2534603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Secure STK Push</a:t>
            </a:r>
            <a:endParaRPr lang="en-US" sz="1950" dirty="0"/>
          </a:p>
        </p:txBody>
      </p:sp>
      <p:sp>
        <p:nvSpPr>
          <p:cNvPr id="11" name="Text 7"/>
          <p:cNvSpPr/>
          <p:nvPr/>
        </p:nvSpPr>
        <p:spPr>
          <a:xfrm>
            <a:off x="9845873" y="2606040"/>
            <a:ext cx="3716060" cy="654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Backend-calculated total → trigger STK Push → user approves on phone.</a:t>
            </a:r>
            <a:endParaRPr lang="en-US" sz="1650" dirty="0"/>
          </a:p>
        </p:txBody>
      </p:sp>
      <p:sp>
        <p:nvSpPr>
          <p:cNvPr id="12" name="Shape 8"/>
          <p:cNvSpPr/>
          <p:nvPr/>
        </p:nvSpPr>
        <p:spPr>
          <a:xfrm>
            <a:off x="9607629" y="3692723"/>
            <a:ext cx="4192548" cy="1641753"/>
          </a:xfrm>
          <a:prstGeom prst="roundRect">
            <a:avLst>
              <a:gd name="adj" fmla="val 19684"/>
            </a:avLst>
          </a:prstGeom>
          <a:solidFill>
            <a:srgbClr val="00002E"/>
          </a:solidFill>
          <a:ln w="22860">
            <a:solidFill>
              <a:srgbClr val="D7425E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9845873" y="3930968"/>
            <a:ext cx="2534603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Reliable Confirmation</a:t>
            </a:r>
            <a:endParaRPr lang="en-US" sz="1950" dirty="0"/>
          </a:p>
        </p:txBody>
      </p:sp>
      <p:sp>
        <p:nvSpPr>
          <p:cNvPr id="14" name="Text 10"/>
          <p:cNvSpPr/>
          <p:nvPr/>
        </p:nvSpPr>
        <p:spPr>
          <a:xfrm>
            <a:off x="9845873" y="4441627"/>
            <a:ext cx="3716060" cy="654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Asynchronous webhook confirms payment → idempotent handling.</a:t>
            </a:r>
            <a:endParaRPr lang="en-US" sz="1650" dirty="0"/>
          </a:p>
        </p:txBody>
      </p:sp>
      <p:sp>
        <p:nvSpPr>
          <p:cNvPr id="15" name="Shape 11"/>
          <p:cNvSpPr/>
          <p:nvPr/>
        </p:nvSpPr>
        <p:spPr>
          <a:xfrm>
            <a:off x="9607629" y="5528310"/>
            <a:ext cx="4192548" cy="1641753"/>
          </a:xfrm>
          <a:prstGeom prst="roundRect">
            <a:avLst>
              <a:gd name="adj" fmla="val 19684"/>
            </a:avLst>
          </a:prstGeom>
          <a:solidFill>
            <a:srgbClr val="00002E"/>
          </a:solidFill>
          <a:ln w="22860">
            <a:solidFill>
              <a:srgbClr val="DD785E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845873" y="5766554"/>
            <a:ext cx="2534603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Post-Pay Flow</a:t>
            </a:r>
            <a:endParaRPr lang="en-US" sz="1950" dirty="0"/>
          </a:p>
        </p:txBody>
      </p:sp>
      <p:sp>
        <p:nvSpPr>
          <p:cNvPr id="17" name="Text 13"/>
          <p:cNvSpPr/>
          <p:nvPr/>
        </p:nvSpPr>
        <p:spPr>
          <a:xfrm>
            <a:off x="9845873" y="6277213"/>
            <a:ext cx="3716060" cy="654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Auto email receipt → cart transitions to PAID and locks.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3174" y="497443"/>
            <a:ext cx="4053959" cy="425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5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Architecture &amp; Hard Mode</a:t>
            </a:r>
            <a:endParaRPr lang="en-US" sz="2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174" y="1281946"/>
            <a:ext cx="4390549" cy="58540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72589" y="3326963"/>
            <a:ext cx="8532138" cy="254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Frontend → Backend API → Database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472589" y="3704153"/>
            <a:ext cx="8532138" cy="1461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External integrations: STK Push API, Email service</a:t>
            </a:r>
            <a:endParaRPr lang="en-US" sz="1400" dirty="0"/>
          </a:p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Server-side total validation (trust backend)</a:t>
            </a:r>
            <a:endParaRPr lang="en-US" sz="1400" dirty="0"/>
          </a:p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Idempotent webhook handling &amp; duplicate transaction protection</a:t>
            </a:r>
            <a:endParaRPr lang="en-US" sz="1400" dirty="0"/>
          </a:p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Cart state machine: ACTIVE → PAID (immutable after payment)</a:t>
            </a:r>
            <a:endParaRPr lang="en-US" sz="1400" dirty="0"/>
          </a:p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Role-based access control for owners vs collaborators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33174" y="7534025"/>
            <a:ext cx="13364051" cy="30123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633174" y="7717869"/>
            <a:ext cx="13364051" cy="203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Note: key backend patterns implemented to meet production reliability and security requirements.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1505188"/>
            <a:ext cx="3604736" cy="450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Why This Matters</a:t>
            </a:r>
            <a:endParaRPr lang="en-US" sz="28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724" y="2185630"/>
            <a:ext cx="478750" cy="4787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507927" y="2185630"/>
            <a:ext cx="2252901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Fraud prevention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1507927" y="2559129"/>
            <a:ext cx="6798350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Server-validated totals and idempotent webhooks reduce risk.</a:t>
            </a:r>
            <a:endParaRPr lang="en-US" sz="15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7724" y="3141107"/>
            <a:ext cx="478750" cy="4787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507927" y="3141107"/>
            <a:ext cx="2627590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Prevent double payments</a:t>
            </a:r>
            <a:endParaRPr lang="en-US" sz="1750" dirty="0"/>
          </a:p>
        </p:txBody>
      </p:sp>
      <p:sp>
        <p:nvSpPr>
          <p:cNvPr id="9" name="Text 4"/>
          <p:cNvSpPr/>
          <p:nvPr/>
        </p:nvSpPr>
        <p:spPr>
          <a:xfrm>
            <a:off x="1507927" y="3514606"/>
            <a:ext cx="6798350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Duplicate transaction protection and cart locking.</a:t>
            </a:r>
            <a:endParaRPr lang="en-US" sz="15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7724" y="4096583"/>
            <a:ext cx="478750" cy="4787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507927" y="4096583"/>
            <a:ext cx="2252901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Data consistency</a:t>
            </a:r>
            <a:endParaRPr lang="en-US" sz="1750" dirty="0"/>
          </a:p>
        </p:txBody>
      </p:sp>
      <p:sp>
        <p:nvSpPr>
          <p:cNvPr id="12" name="Text 6"/>
          <p:cNvSpPr/>
          <p:nvPr/>
        </p:nvSpPr>
        <p:spPr>
          <a:xfrm>
            <a:off x="1507927" y="4470082"/>
            <a:ext cx="6798350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Authoritative backend state reduces reconciliation work.</a:t>
            </a:r>
            <a:endParaRPr lang="en-US" sz="15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7724" y="5052060"/>
            <a:ext cx="478750" cy="47875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507927" y="5052060"/>
            <a:ext cx="2252901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Production-ready</a:t>
            </a:r>
            <a:endParaRPr lang="en-US" sz="1750" dirty="0"/>
          </a:p>
        </p:txBody>
      </p:sp>
      <p:sp>
        <p:nvSpPr>
          <p:cNvPr id="15" name="Text 8"/>
          <p:cNvSpPr/>
          <p:nvPr/>
        </p:nvSpPr>
        <p:spPr>
          <a:xfrm>
            <a:off x="1507927" y="5425559"/>
            <a:ext cx="6798350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Built for real users: reliable, auditable, and scalable.</a:t>
            </a:r>
            <a:endParaRPr lang="en-US" sz="1500" dirty="0"/>
          </a:p>
        </p:txBody>
      </p:sp>
      <p:sp>
        <p:nvSpPr>
          <p:cNvPr id="16" name="Shape 9"/>
          <p:cNvSpPr/>
          <p:nvPr/>
        </p:nvSpPr>
        <p:spPr>
          <a:xfrm>
            <a:off x="837724" y="5969211"/>
            <a:ext cx="7468553" cy="31552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17" name="Text 10"/>
          <p:cNvSpPr/>
          <p:nvPr/>
        </p:nvSpPr>
        <p:spPr>
          <a:xfrm>
            <a:off x="837724" y="6173033"/>
            <a:ext cx="7468553" cy="551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Next steps: pilot with select user groups, monitor webhook reliability, iterate on UX for split-pay options.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2026-03-04T06:50:55Z</dcterms:created>
  <dcterms:modified xsi:type="dcterms:W3CDTF">2026-03-04T06:50:55Z</dcterms:modified>
</cp:coreProperties>
</file>